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09125C0-3429-443E-B34D-105CD4BD350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1FF943-3D40-4C5F-8BD0-3744BD0543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12C7B1-3A51-45B1-AF40-1FA5416AF9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620716-55C1-40A6-B5A1-7D2BFFA936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26D56A-BDE9-4350-B82D-E6E19C1063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1B2144-51D4-4320-AED1-E4082791CD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365760" y="36576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9fe1cb"/>
                </a:solidFill>
                <a:latin typeface="Calibri"/>
                <a:ea typeface="Calibri"/>
              </a:rPr>
              <a:t>UNIVERSITY HEALTH SYSTEM — PILOT CONCEPT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65760" y="914400"/>
            <a:ext cx="8411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Georgia"/>
                <a:ea typeface="Georgia"/>
              </a:rPr>
              <a:t>UNIMED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65760" y="2011680"/>
            <a:ext cx="6857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9fe1cb"/>
                </a:solidFill>
                <a:latin typeface="Calibri"/>
                <a:ea typeface="Calibri"/>
              </a:rPr>
              <a:t>Solving the Student Health Records Crisis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9fe1cb"/>
                </a:solidFill>
                <a:latin typeface="Calibri"/>
                <a:ea typeface="Calibri"/>
              </a:rPr>
              <a:t>with an E-Health Card System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13"/>
          <p:cNvSpPr/>
          <p:nvPr/>
        </p:nvSpPr>
        <p:spPr>
          <a:xfrm>
            <a:off x="365760" y="4800600"/>
            <a:ext cx="8228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f8c7f"/>
                </a:solidFill>
                <a:latin typeface="Calibri"/>
                <a:ea typeface="Calibri"/>
              </a:rPr>
              <a:t>University of Malawi (UNIMA) · UNIMED · 2025 Pilot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a2e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457200" y="0"/>
            <a:ext cx="822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9fe1cb"/>
                </a:solidFill>
                <a:latin typeface="Calibri"/>
                <a:ea typeface="Calibri"/>
              </a:rPr>
              <a:t>THE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457200" y="8229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c3e50"/>
                </a:solidFill>
                <a:latin typeface="Georgia"/>
                <a:ea typeface="Georgia"/>
              </a:rPr>
              <a:t>Student health records are broken.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365760" y="1508760"/>
            <a:ext cx="2651040" cy="3199680"/>
          </a:xfrm>
          <a:prstGeom prst="rect">
            <a:avLst/>
          </a:prstGeom>
          <a:solidFill>
            <a:srgbClr val="f4faf8"/>
          </a:solidFill>
          <a:ln w="6350">
            <a:solidFill>
              <a:srgbClr val="d3d1c7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365760" y="1508760"/>
            <a:ext cx="2651040" cy="1090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Image 0" descr="preencoded.png"/>
          <p:cNvPicPr/>
          <p:nvPr/>
        </p:nvPicPr>
        <p:blipFill>
          <a:blip r:embed="rId1"/>
          <a:stretch/>
        </p:blipFill>
        <p:spPr>
          <a:xfrm>
            <a:off x="1417320" y="173736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19" name="Text 5"/>
          <p:cNvSpPr/>
          <p:nvPr/>
        </p:nvSpPr>
        <p:spPr>
          <a:xfrm>
            <a:off x="365760" y="233172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Calibri"/>
                <a:ea typeface="Calibri"/>
              </a:rPr>
              <a:t>Repeated Tests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502920" y="2788920"/>
            <a:ext cx="23767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44441"/>
                </a:solidFill>
                <a:latin typeface="Calibri"/>
                <a:ea typeface="Calibri"/>
              </a:rPr>
              <a:t>Without history access, doctors order the same tests multiple times — wasting money and the student's time.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3200400" y="1508760"/>
            <a:ext cx="2651040" cy="3199680"/>
          </a:xfrm>
          <a:prstGeom prst="rect">
            <a:avLst/>
          </a:prstGeom>
          <a:solidFill>
            <a:srgbClr val="f4faf8"/>
          </a:solidFill>
          <a:ln w="6350">
            <a:solidFill>
              <a:srgbClr val="d3d1c7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3200400" y="1508760"/>
            <a:ext cx="2651040" cy="109080"/>
          </a:xfrm>
          <a:prstGeom prst="rect">
            <a:avLst/>
          </a:prstGeom>
          <a:solidFill>
            <a:srgbClr val="d689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Image 1" descr="preencoded.png"/>
          <p:cNvPicPr/>
          <p:nvPr/>
        </p:nvPicPr>
        <p:blipFill>
          <a:blip r:embed="rId2"/>
          <a:stretch/>
        </p:blipFill>
        <p:spPr>
          <a:xfrm>
            <a:off x="4251960" y="173736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24" name="Text 9"/>
          <p:cNvSpPr/>
          <p:nvPr/>
        </p:nvSpPr>
        <p:spPr>
          <a:xfrm>
            <a:off x="3200400" y="233172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Calibri"/>
                <a:ea typeface="Calibri"/>
              </a:rPr>
              <a:t>Paper-Based Records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3337560" y="2788920"/>
            <a:ext cx="23767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44441"/>
                </a:solidFill>
                <a:latin typeface="Calibri"/>
                <a:ea typeface="Calibri"/>
              </a:rPr>
              <a:t>The 'Blue Copy' triplicate system is unreliable, easily lost, and can't be shared between hospitals.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6035040" y="1508760"/>
            <a:ext cx="2651040" cy="3199680"/>
          </a:xfrm>
          <a:prstGeom prst="rect">
            <a:avLst/>
          </a:prstGeom>
          <a:solidFill>
            <a:srgbClr val="f4faf8"/>
          </a:solidFill>
          <a:ln w="6350">
            <a:solidFill>
              <a:srgbClr val="d3d1c7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6035040" y="1508760"/>
            <a:ext cx="2651040" cy="109080"/>
          </a:xfrm>
          <a:prstGeom prst="rect">
            <a:avLst/>
          </a:prstGeom>
          <a:solidFill>
            <a:srgbClr val="0f6e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" name="Image 2" descr="preencoded.png"/>
          <p:cNvPicPr/>
          <p:nvPr/>
        </p:nvPicPr>
        <p:blipFill>
          <a:blip r:embed="rId3"/>
          <a:stretch/>
        </p:blipFill>
        <p:spPr>
          <a:xfrm>
            <a:off x="7086600" y="173736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29" name="Text 13"/>
          <p:cNvSpPr/>
          <p:nvPr/>
        </p:nvSpPr>
        <p:spPr>
          <a:xfrm>
            <a:off x="6035040" y="233172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Calibri"/>
                <a:ea typeface="Calibri"/>
              </a:rPr>
              <a:t>No Data Portability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6172200" y="2788920"/>
            <a:ext cx="23767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44441"/>
                </a:solidFill>
                <a:latin typeface="Calibri"/>
                <a:ea typeface="Calibri"/>
              </a:rPr>
              <a:t>When a student transfers to a new hospital or returns home, their medical history stays behind — invisible to the next doctor.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457200" y="4800600"/>
            <a:ext cx="8228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Result: Higher costs · Misdiagnosis risk · Wasted clinical resources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a2e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457200" y="0"/>
            <a:ext cx="822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9fe1cb"/>
                </a:solidFill>
                <a:latin typeface="Calibri"/>
                <a:ea typeface="Calibri"/>
              </a:rPr>
              <a:t>THE SOLUTION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457200" y="8229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c3e50"/>
                </a:solidFill>
                <a:latin typeface="Georgia"/>
                <a:ea typeface="Georgia"/>
              </a:rPr>
              <a:t>One card. Complete history. Instant access.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457200" y="1463040"/>
            <a:ext cx="3656880" cy="2285280"/>
          </a:xfrm>
          <a:prstGeom prst="rect">
            <a:avLst/>
          </a:prstGeom>
          <a:solidFill>
            <a:srgbClr val="0f6e56"/>
          </a:solidFill>
          <a:ln w="0">
            <a:noFill/>
          </a:ln>
          <a:effectLst>
            <a:outerShdw algn="bl" blurRad="203040" dir="8716723" dist="49931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4"/>
          <p:cNvSpPr/>
          <p:nvPr/>
        </p:nvSpPr>
        <p:spPr>
          <a:xfrm>
            <a:off x="744480" y="1900080"/>
            <a:ext cx="547920" cy="410760"/>
          </a:xfrm>
          <a:prstGeom prst="roundRect">
            <a:avLst>
              <a:gd name="adj" fmla="val 11111"/>
            </a:avLst>
          </a:prstGeom>
          <a:solidFill>
            <a:srgbClr val="d4ac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685800" y="171900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97" strike="noStrike">
                <a:solidFill>
                  <a:srgbClr val="9fe1cb"/>
                </a:solidFill>
                <a:latin typeface="Calibri"/>
                <a:ea typeface="Calibri"/>
              </a:rPr>
              <a:t>E-HEALTH CARD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685800" y="233172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University of Malawi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685800" y="265176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e1cb"/>
                </a:solidFill>
                <a:latin typeface="Calibri"/>
                <a:ea typeface="Calibri"/>
              </a:rPr>
              <a:t>Student No.  2021-CHI-0047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685800" y="297180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fe1cb"/>
                </a:solidFill>
                <a:latin typeface="Calibri"/>
                <a:ea typeface="Calibri"/>
              </a:rPr>
              <a:t>Linked to: Health Records · SMIS · Pharmacy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Image 0" descr="preencoded.png"/>
          <p:cNvPicPr/>
          <p:nvPr/>
        </p:nvPicPr>
        <p:blipFill>
          <a:blip r:embed="rId1"/>
          <a:stretch/>
        </p:blipFill>
        <p:spPr>
          <a:xfrm>
            <a:off x="3566160" y="283464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42" name="Shape 9"/>
          <p:cNvSpPr/>
          <p:nvPr/>
        </p:nvSpPr>
        <p:spPr>
          <a:xfrm>
            <a:off x="4572000" y="1508760"/>
            <a:ext cx="410760" cy="410760"/>
          </a:xfrm>
          <a:prstGeom prst="ellipse">
            <a:avLst/>
          </a:prstGeom>
          <a:solidFill>
            <a:srgbClr val="e1f5ee"/>
          </a:solidFill>
          <a:ln w="635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Image 1" descr="preencoded.png"/>
          <p:cNvPicPr/>
          <p:nvPr/>
        </p:nvPicPr>
        <p:blipFill>
          <a:blip r:embed="rId2"/>
          <a:stretch/>
        </p:blipFill>
        <p:spPr>
          <a:xfrm>
            <a:off x="4617720" y="155448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44" name="Text 10"/>
          <p:cNvSpPr/>
          <p:nvPr/>
        </p:nvSpPr>
        <p:spPr>
          <a:xfrm>
            <a:off x="5120640" y="1508760"/>
            <a:ext cx="3839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Works like a student ID — same technology, scanned at the clinic door.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1"/>
          <p:cNvSpPr/>
          <p:nvPr/>
        </p:nvSpPr>
        <p:spPr>
          <a:xfrm>
            <a:off x="4572000" y="2441520"/>
            <a:ext cx="410760" cy="410760"/>
          </a:xfrm>
          <a:prstGeom prst="ellipse">
            <a:avLst/>
          </a:prstGeom>
          <a:solidFill>
            <a:srgbClr val="e1f5ee"/>
          </a:solidFill>
          <a:ln w="635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Image 2" descr="preencoded.png"/>
          <p:cNvPicPr/>
          <p:nvPr/>
        </p:nvPicPr>
        <p:blipFill>
          <a:blip r:embed="rId3"/>
          <a:stretch/>
        </p:blipFill>
        <p:spPr>
          <a:xfrm>
            <a:off x="4617720" y="248724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47" name="Text 12"/>
          <p:cNvSpPr/>
          <p:nvPr/>
        </p:nvSpPr>
        <p:spPr>
          <a:xfrm>
            <a:off x="5120640" y="2441520"/>
            <a:ext cx="3839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Doctor scans the card → full history appears instantly on screen.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4572000" y="3374280"/>
            <a:ext cx="410760" cy="410760"/>
          </a:xfrm>
          <a:prstGeom prst="ellipse">
            <a:avLst/>
          </a:prstGeom>
          <a:solidFill>
            <a:srgbClr val="e1f5ee"/>
          </a:solidFill>
          <a:ln w="635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Image 3" descr="preencoded.png"/>
          <p:cNvPicPr/>
          <p:nvPr/>
        </p:nvPicPr>
        <p:blipFill>
          <a:blip r:embed="rId4"/>
          <a:stretch/>
        </p:blipFill>
        <p:spPr>
          <a:xfrm>
            <a:off x="4617720" y="342000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50" name="Text 14"/>
          <p:cNvSpPr/>
          <p:nvPr/>
        </p:nvSpPr>
        <p:spPr>
          <a:xfrm>
            <a:off x="5120640" y="3374280"/>
            <a:ext cx="3839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Records update after every visit and travel with the student to any hospital.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5"/>
          <p:cNvSpPr/>
          <p:nvPr/>
        </p:nvSpPr>
        <p:spPr>
          <a:xfrm>
            <a:off x="457200" y="3967920"/>
            <a:ext cx="8228880" cy="8222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640080" y="3913560"/>
            <a:ext cx="78631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f6e56"/>
                </a:solidFill>
                <a:latin typeface="Calibri"/>
                <a:ea typeface="Calibri"/>
              </a:rPr>
              <a:t>The E-Health Card opens the student's complete medical record at any hospital which supports UNIMED..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2559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9fe1cb"/>
                </a:solidFill>
                <a:latin typeface="Calibri"/>
                <a:ea typeface="Calibri"/>
              </a:rPr>
              <a:t>HOW IT WORKS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457200" y="64008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From scan to care in seconds.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274320" y="1417320"/>
            <a:ext cx="1572120" cy="2925360"/>
          </a:xfrm>
          <a:prstGeom prst="rect">
            <a:avLst/>
          </a:prstGeom>
          <a:solidFill>
            <a:srgbClr val="0f6e56"/>
          </a:solidFill>
          <a:ln w="635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786240" y="1581840"/>
            <a:ext cx="547920" cy="547920"/>
          </a:xfrm>
          <a:prstGeom prst="ellipse">
            <a:avLst/>
          </a:prstGeom>
          <a:solidFill>
            <a:srgbClr val="0a2e2a"/>
          </a:solidFill>
          <a:ln w="12700">
            <a:solidFill>
              <a:srgbClr val="9fe1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786240" y="158184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fe1cb"/>
                </a:solidFill>
                <a:latin typeface="Georgia"/>
                <a:ea typeface="Georgia"/>
              </a:rPr>
              <a:t>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365760" y="2331720"/>
            <a:ext cx="1389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Student arrives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365760" y="2898720"/>
            <a:ext cx="13892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e1cb"/>
                </a:solidFill>
                <a:latin typeface="Calibri"/>
                <a:ea typeface="Calibri"/>
              </a:rPr>
              <a:t>Presents E-Health Card at clinic reception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1856160" y="2880360"/>
            <a:ext cx="64080" cy="360"/>
          </a:xfrm>
          <a:prstGeom prst="line">
            <a:avLst/>
          </a:prstGeom>
          <a:ln w="19050">
            <a:solidFill>
              <a:srgbClr val="9fe1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1920240" y="1417320"/>
            <a:ext cx="1572120" cy="2925360"/>
          </a:xfrm>
          <a:prstGeom prst="rect">
            <a:avLst/>
          </a:prstGeom>
          <a:solidFill>
            <a:srgbClr val="0f6e56"/>
          </a:solidFill>
          <a:ln w="635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2432160" y="1581840"/>
            <a:ext cx="547920" cy="547920"/>
          </a:xfrm>
          <a:prstGeom prst="ellipse">
            <a:avLst/>
          </a:prstGeom>
          <a:solidFill>
            <a:srgbClr val="0a2e2a"/>
          </a:solidFill>
          <a:ln w="12700">
            <a:solidFill>
              <a:srgbClr val="9fe1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2432160" y="158184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fe1cb"/>
                </a:solidFill>
                <a:latin typeface="Georgia"/>
                <a:ea typeface="Georgia"/>
              </a:rPr>
              <a:t>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2011680" y="2331720"/>
            <a:ext cx="1389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Card scanned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2011680" y="2898720"/>
            <a:ext cx="13892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e1cb"/>
                </a:solidFill>
                <a:latin typeface="Calibri"/>
                <a:ea typeface="Calibri"/>
              </a:rPr>
              <a:t>Terminal reads card &amp; verifies identity via UNIMA SMIS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3502080" y="2880360"/>
            <a:ext cx="64080" cy="360"/>
          </a:xfrm>
          <a:prstGeom prst="line">
            <a:avLst/>
          </a:prstGeom>
          <a:ln w="19050">
            <a:solidFill>
              <a:srgbClr val="9fe1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3566160" y="1417320"/>
            <a:ext cx="1572120" cy="2925360"/>
          </a:xfrm>
          <a:prstGeom prst="rect">
            <a:avLst/>
          </a:prstGeom>
          <a:solidFill>
            <a:srgbClr val="0f6e56"/>
          </a:solidFill>
          <a:ln w="635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4078080" y="1581840"/>
            <a:ext cx="547920" cy="547920"/>
          </a:xfrm>
          <a:prstGeom prst="ellipse">
            <a:avLst/>
          </a:prstGeom>
          <a:solidFill>
            <a:srgbClr val="0a2e2a"/>
          </a:solidFill>
          <a:ln w="12700">
            <a:solidFill>
              <a:srgbClr val="9fe1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4078080" y="158184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fe1cb"/>
                </a:solidFill>
                <a:latin typeface="Georgia"/>
                <a:ea typeface="Georgia"/>
              </a:rPr>
              <a:t>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3657600" y="2331720"/>
            <a:ext cx="1389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Records loaded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3657600" y="2898720"/>
            <a:ext cx="13892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e1cb"/>
                </a:solidFill>
                <a:latin typeface="Calibri"/>
                <a:ea typeface="Calibri"/>
              </a:rPr>
              <a:t>Full medical history appears on doctor's dashboard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9"/>
          <p:cNvSpPr/>
          <p:nvPr/>
        </p:nvSpPr>
        <p:spPr>
          <a:xfrm>
            <a:off x="5148000" y="2880360"/>
            <a:ext cx="64080" cy="360"/>
          </a:xfrm>
          <a:prstGeom prst="line">
            <a:avLst/>
          </a:prstGeom>
          <a:ln w="19050">
            <a:solidFill>
              <a:srgbClr val="9fe1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20"/>
          <p:cNvSpPr/>
          <p:nvPr/>
        </p:nvSpPr>
        <p:spPr>
          <a:xfrm>
            <a:off x="5212080" y="1417320"/>
            <a:ext cx="1572120" cy="2925360"/>
          </a:xfrm>
          <a:prstGeom prst="rect">
            <a:avLst/>
          </a:prstGeom>
          <a:solidFill>
            <a:srgbClr val="0f6e56"/>
          </a:solidFill>
          <a:ln w="635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21"/>
          <p:cNvSpPr/>
          <p:nvPr/>
        </p:nvSpPr>
        <p:spPr>
          <a:xfrm>
            <a:off x="5724000" y="1581840"/>
            <a:ext cx="547920" cy="547920"/>
          </a:xfrm>
          <a:prstGeom prst="ellipse">
            <a:avLst/>
          </a:prstGeom>
          <a:solidFill>
            <a:srgbClr val="0a2e2a"/>
          </a:solidFill>
          <a:ln w="12700">
            <a:solidFill>
              <a:srgbClr val="9fe1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5724000" y="158184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fe1cb"/>
                </a:solidFill>
                <a:latin typeface="Georgia"/>
                <a:ea typeface="Georgia"/>
              </a:rPr>
              <a:t>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5303520" y="2331720"/>
            <a:ext cx="1389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Consultation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4"/>
          <p:cNvSpPr/>
          <p:nvPr/>
        </p:nvSpPr>
        <p:spPr>
          <a:xfrm>
            <a:off x="5303520" y="2898720"/>
            <a:ext cx="13892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e1cb"/>
                </a:solidFill>
                <a:latin typeface="Calibri"/>
                <a:ea typeface="Calibri"/>
              </a:rPr>
              <a:t>Doctor diagnoses, enters notes and prescription digitally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25"/>
          <p:cNvSpPr/>
          <p:nvPr/>
        </p:nvSpPr>
        <p:spPr>
          <a:xfrm>
            <a:off x="6793920" y="2880360"/>
            <a:ext cx="64080" cy="360"/>
          </a:xfrm>
          <a:prstGeom prst="line">
            <a:avLst/>
          </a:prstGeom>
          <a:ln w="19050">
            <a:solidFill>
              <a:srgbClr val="9fe1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26"/>
          <p:cNvSpPr/>
          <p:nvPr/>
        </p:nvSpPr>
        <p:spPr>
          <a:xfrm>
            <a:off x="6858000" y="1417320"/>
            <a:ext cx="1572120" cy="2925360"/>
          </a:xfrm>
          <a:prstGeom prst="rect">
            <a:avLst/>
          </a:prstGeom>
          <a:solidFill>
            <a:srgbClr val="0f6e56"/>
          </a:solidFill>
          <a:ln w="635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27"/>
          <p:cNvSpPr/>
          <p:nvPr/>
        </p:nvSpPr>
        <p:spPr>
          <a:xfrm>
            <a:off x="7369920" y="1581840"/>
            <a:ext cx="547920" cy="547920"/>
          </a:xfrm>
          <a:prstGeom prst="ellipse">
            <a:avLst/>
          </a:prstGeom>
          <a:solidFill>
            <a:srgbClr val="0a2e2a"/>
          </a:solidFill>
          <a:ln w="12700">
            <a:solidFill>
              <a:srgbClr val="9fe1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28"/>
          <p:cNvSpPr/>
          <p:nvPr/>
        </p:nvSpPr>
        <p:spPr>
          <a:xfrm>
            <a:off x="7369920" y="158184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fe1cb"/>
                </a:solidFill>
                <a:latin typeface="Georgia"/>
                <a:ea typeface="Georgia"/>
              </a:rPr>
              <a:t>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29"/>
          <p:cNvSpPr/>
          <p:nvPr/>
        </p:nvSpPr>
        <p:spPr>
          <a:xfrm>
            <a:off x="6949440" y="2331720"/>
            <a:ext cx="1389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Record updated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0"/>
          <p:cNvSpPr/>
          <p:nvPr/>
        </p:nvSpPr>
        <p:spPr>
          <a:xfrm>
            <a:off x="6949440" y="2898720"/>
            <a:ext cx="13892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e1cb"/>
                </a:solidFill>
                <a:latin typeface="Calibri"/>
                <a:ea typeface="Calibri"/>
              </a:rPr>
              <a:t>New notes saved &amp; auto-routed to pharmacy + UNIMED billing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31"/>
          <p:cNvSpPr/>
          <p:nvPr/>
        </p:nvSpPr>
        <p:spPr>
          <a:xfrm>
            <a:off x="0" y="4553640"/>
            <a:ext cx="9143280" cy="58896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365760" y="4553640"/>
            <a:ext cx="841176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Outcome: No repeated tests · No lost records · Full history available at any participating hospital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a2e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57200" y="0"/>
            <a:ext cx="822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9fe1cb"/>
                </a:solidFill>
                <a:latin typeface="Calibri"/>
                <a:ea typeface="Calibri"/>
              </a:rPr>
              <a:t>WHY THIS WINS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457200" y="804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c3e50"/>
                </a:solidFill>
                <a:latin typeface="Georgia"/>
                <a:ea typeface="Georgia"/>
              </a:rPr>
              <a:t>Built for UNIMA. Ready to scale.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365760" y="1508760"/>
            <a:ext cx="4159800" cy="1325160"/>
          </a:xfrm>
          <a:prstGeom prst="rect">
            <a:avLst/>
          </a:prstGeom>
          <a:solidFill>
            <a:srgbClr val="f4faf8"/>
          </a:solidFill>
          <a:ln w="6350">
            <a:solidFill>
              <a:srgbClr val="d3d1c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365760" y="1508760"/>
            <a:ext cx="90720" cy="1325160"/>
          </a:xfrm>
          <a:prstGeom prst="rect">
            <a:avLst/>
          </a:prstGeom>
          <a:solidFill>
            <a:srgbClr val="0f6e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1"/>
          <a:stretch/>
        </p:blipFill>
        <p:spPr>
          <a:xfrm>
            <a:off x="567000" y="161856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92" name="Text 5"/>
          <p:cNvSpPr/>
          <p:nvPr/>
        </p:nvSpPr>
        <p:spPr>
          <a:xfrm>
            <a:off x="1051560" y="160020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Privacy compliant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1051560" y="1965960"/>
            <a:ext cx="33368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44441"/>
                </a:solidFill>
                <a:latin typeface="Calibri"/>
                <a:ea typeface="Calibri"/>
              </a:rPr>
              <a:t>Aligned with Malawi's Data Protection Act 2021 — decentralised, no central data warehouse.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4800600" y="1508760"/>
            <a:ext cx="4159800" cy="1325160"/>
          </a:xfrm>
          <a:prstGeom prst="rect">
            <a:avLst/>
          </a:prstGeom>
          <a:solidFill>
            <a:srgbClr val="f4faf8"/>
          </a:solidFill>
          <a:ln w="6350">
            <a:solidFill>
              <a:srgbClr val="d3d1c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4800600" y="1508760"/>
            <a:ext cx="90720" cy="1325160"/>
          </a:xfrm>
          <a:prstGeom prst="rect">
            <a:avLst/>
          </a:prstGeom>
          <a:solidFill>
            <a:srgbClr val="0f6e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Image 1" descr="preencoded.png"/>
          <p:cNvPicPr/>
          <p:nvPr/>
        </p:nvPicPr>
        <p:blipFill>
          <a:blip r:embed="rId2"/>
          <a:stretch/>
        </p:blipFill>
        <p:spPr>
          <a:xfrm>
            <a:off x="5001840" y="161856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97" name="Text 9"/>
          <p:cNvSpPr/>
          <p:nvPr/>
        </p:nvSpPr>
        <p:spPr>
          <a:xfrm>
            <a:off x="5486400" y="160020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Paperless clinic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5486400" y="1965960"/>
            <a:ext cx="33368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44441"/>
                </a:solidFill>
                <a:latin typeface="Calibri"/>
                <a:ea typeface="Calibri"/>
              </a:rPr>
              <a:t>Replaces the unreliable 'Blue Copy' triplicate system with instant, accurate digital records.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365760" y="3017520"/>
            <a:ext cx="4159800" cy="1325160"/>
          </a:xfrm>
          <a:prstGeom prst="rect">
            <a:avLst/>
          </a:prstGeom>
          <a:solidFill>
            <a:srgbClr val="f4faf8"/>
          </a:solidFill>
          <a:ln w="6350">
            <a:solidFill>
              <a:srgbClr val="d3d1c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365760" y="3017520"/>
            <a:ext cx="90720" cy="132516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1" name="Image 2" descr="preencoded.png"/>
          <p:cNvPicPr/>
          <p:nvPr/>
        </p:nvPicPr>
        <p:blipFill>
          <a:blip r:embed="rId3"/>
          <a:stretch/>
        </p:blipFill>
        <p:spPr>
          <a:xfrm>
            <a:off x="567000" y="312732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102" name="Text 13"/>
          <p:cNvSpPr/>
          <p:nvPr/>
        </p:nvSpPr>
        <p:spPr>
          <a:xfrm>
            <a:off x="1051560" y="310896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Cross-hospital continuity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1051560" y="3474720"/>
            <a:ext cx="33368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44441"/>
                </a:solidFill>
                <a:latin typeface="Calibri"/>
                <a:ea typeface="Calibri"/>
              </a:rPr>
              <a:t>Students keep their full history whether at UNIMA, home hospital, or another campus clinic.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4800600" y="3017520"/>
            <a:ext cx="4159800" cy="1325160"/>
          </a:xfrm>
          <a:prstGeom prst="rect">
            <a:avLst/>
          </a:prstGeom>
          <a:solidFill>
            <a:srgbClr val="f4faf8"/>
          </a:solidFill>
          <a:ln w="6350">
            <a:solidFill>
              <a:srgbClr val="d3d1c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6"/>
          <p:cNvSpPr/>
          <p:nvPr/>
        </p:nvSpPr>
        <p:spPr>
          <a:xfrm>
            <a:off x="4800600" y="3017520"/>
            <a:ext cx="90720" cy="132516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3" descr="preencoded.png"/>
          <p:cNvPicPr/>
          <p:nvPr/>
        </p:nvPicPr>
        <p:blipFill>
          <a:blip r:embed="rId4"/>
          <a:stretch/>
        </p:blipFill>
        <p:spPr>
          <a:xfrm>
            <a:off x="5001840" y="312732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107" name="Text 17"/>
          <p:cNvSpPr/>
          <p:nvPr/>
        </p:nvSpPr>
        <p:spPr>
          <a:xfrm>
            <a:off x="5486400" y="310896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Integrated pharmacy &amp; billing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5486400" y="3474720"/>
            <a:ext cx="33368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44441"/>
                </a:solidFill>
                <a:latin typeface="Calibri"/>
                <a:ea typeface="Calibri"/>
              </a:rPr>
              <a:t>Prescriptions route automatically; UNIMED receives a service receipt — zero clinical detail exposure.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9"/>
          <p:cNvSpPr/>
          <p:nvPr/>
        </p:nvSpPr>
        <p:spPr>
          <a:xfrm>
            <a:off x="365760" y="4645080"/>
            <a:ext cx="8411760" cy="34668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20"/>
          <p:cNvSpPr/>
          <p:nvPr/>
        </p:nvSpPr>
        <p:spPr>
          <a:xfrm>
            <a:off x="365760" y="4645080"/>
            <a:ext cx="8411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Pilot Target: UNIMA Zomba Campus Clinic  ·  Phase 1: Identity verification + records retrieval  ·  Timeline: 2025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" dur="indefinite" restart="never" nodeType="tmRoot">
          <p:childTnLst>
            <p:seq>
              <p:cTn id="64" dur="indefinite" nodeType="mainSeq">
                <p:childTnLst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2026-04-17T17:07:43Z</dcterms:created>
  <dc:creator>PptxGenJS</dc:creator>
  <dc:description/>
  <dc:language>en-US</dc:language>
  <cp:lastModifiedBy/>
  <dcterms:modified xsi:type="dcterms:W3CDTF">2026-04-17T20:31:26Z</dcterms:modified>
  <cp:revision>3</cp:revision>
  <dc:subject>PptxGenJS Presentation</dc:subject>
  <dc:title>Chipatala Connect – E-Health Card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